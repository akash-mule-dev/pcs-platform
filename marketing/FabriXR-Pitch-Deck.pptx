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6263B"/>
          </a:solidFill>
          <a:ln/>
        </p:spPr>
      </p:sp>
      <p:sp>
        <p:nvSpPr>
          <p:cNvPr id="4" name="Shape 2"/>
          <p:cNvSpPr/>
          <p:nvPr/>
        </p:nvSpPr>
        <p:spPr>
          <a:xfrm>
            <a:off x="8366760" y="105156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E3350"/>
          </a:solidFill>
          <a:ln w="12700">
            <a:solidFill>
              <a:srgbClr val="2642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DB4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 EFFICIENCY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95360" y="13716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469880" y="1325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5668" y="1461668"/>
            <a:ext cx="231343" cy="2313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0" y="23317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1E3350"/>
          </a:solidFill>
          <a:ln w="12700">
            <a:solidFill>
              <a:srgbClr val="2642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87968" y="2542032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9125712" y="2432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 ·  Stage Status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87968" y="2779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 </a:t>
            </a:r>
            <a:pPr indent="0" marL="0">
              <a:buNone/>
            </a:pPr>
            <a:r>
              <a:rPr lang="en-US" sz="100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WO-1042 · Weld · 00:18:42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887968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Pooja  </a:t>
            </a:r>
            <a:pPr indent="0" marL="0">
              <a:buNone/>
            </a:pPr>
            <a:r>
              <a:rPr lang="en-US" sz="100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WO-1039 · Assemble · 00:07:10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366760" y="361188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23A39"/>
          </a:solidFill>
          <a:ln w="12700">
            <a:solidFill>
              <a:srgbClr val="18514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95360" y="3822192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979" y="3975811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372600" y="3840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/ AR QA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372600" y="41513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vs. the model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SpadeBloom</a:t>
            </a:r>
            <a:endParaRPr lang="en-US" sz="5200" dirty="0"/>
          </a:p>
        </p:txBody>
      </p:sp>
      <p:sp>
        <p:nvSpPr>
          <p:cNvPr id="20" name="Text 16"/>
          <p:cNvSpPr/>
          <p:nvPr/>
        </p:nvSpPr>
        <p:spPr>
          <a:xfrm>
            <a:off x="676656" y="2212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CONTROL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40080" y="2971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who's building what —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inspect it in 3D.</a:t>
            </a:r>
            <a:endParaRPr lang="en-US" sz="3300" dirty="0"/>
          </a:p>
        </p:txBody>
      </p:sp>
      <p:sp>
        <p:nvSpPr>
          <p:cNvPr id="22" name="Text 18"/>
          <p:cNvSpPr/>
          <p:nvPr/>
        </p:nvSpPr>
        <p:spPr>
          <a:xfrm>
            <a:off x="658368" y="45262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production control, 3D/AR quality, and live labor visibility for metal-fabrication shops.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58368" y="544068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3350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" y="54406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FE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portal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487168" y="544068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E3350"/>
          </a:solidFill>
          <a:ln/>
        </p:spPr>
      </p:sp>
      <p:sp>
        <p:nvSpPr>
          <p:cNvPr id="26" name="Text 22"/>
          <p:cNvSpPr/>
          <p:nvPr/>
        </p:nvSpPr>
        <p:spPr>
          <a:xfrm>
            <a:off x="2487168" y="5440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FE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app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407408" y="5440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3350"/>
          </a:solidFill>
          <a:ln/>
        </p:spPr>
      </p:sp>
      <p:sp>
        <p:nvSpPr>
          <p:cNvPr id="28" name="Text 24"/>
          <p:cNvSpPr/>
          <p:nvPr/>
        </p:nvSpPr>
        <p:spPr>
          <a:xfrm>
            <a:off x="4407408" y="54406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FE0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+ API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58368" y="60350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fab shops run the floor half-blind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travelers and spreadsheets work for six jobs. At sixty, they break — and you can't see the floor, the labor, or the quality in time to act.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26162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4505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Stale, end-of-shift visibility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80160" y="27797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walk the floor to find status; planners act on data 12+ hours old.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75928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5935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 that never gets captured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280160" y="39227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times are slow and skipped — so the dashboard becomes fiction.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902281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7365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Clipboard QA that misses the part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80160" y="50657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checklists can't verify a built assembly against intent; rework is caught late.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858000" y="1481328"/>
            <a:ext cx="4782312" cy="4572000"/>
          </a:xfrm>
          <a:prstGeom prst="roundRect">
            <a:avLst>
              <a:gd name="adj" fmla="val 1800"/>
            </a:avLst>
          </a:prstGeom>
          <a:solidFill>
            <a:srgbClr val="0E1A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178040" y="175564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B0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 OF NOT KNOWING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178040" y="2331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40–60%</a:t>
            </a:r>
            <a:endParaRPr lang="en-US" sz="4200" dirty="0"/>
          </a:p>
        </p:txBody>
      </p:sp>
      <p:sp>
        <p:nvSpPr>
          <p:cNvPr id="20" name="Text 15"/>
          <p:cNvSpPr/>
          <p:nvPr/>
        </p:nvSpPr>
        <p:spPr>
          <a:xfrm>
            <a:off x="7205472" y="30083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OEE at SMB shops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178040" y="35387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20–40%</a:t>
            </a:r>
            <a:endParaRPr lang="en-US" sz="4200" dirty="0"/>
          </a:p>
        </p:txBody>
      </p:sp>
      <p:sp>
        <p:nvSpPr>
          <p:cNvPr id="22" name="Text 17"/>
          <p:cNvSpPr/>
          <p:nvPr/>
        </p:nvSpPr>
        <p:spPr>
          <a:xfrm>
            <a:off x="7205472" y="42153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scheduled time spent non-productive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78040" y="47457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hrs</a:t>
            </a:r>
            <a:endParaRPr lang="en-US" sz="4200" dirty="0"/>
          </a:p>
        </p:txBody>
      </p:sp>
      <p:sp>
        <p:nvSpPr>
          <p:cNvPr id="24" name="Text 19"/>
          <p:cNvSpPr/>
          <p:nvPr/>
        </p:nvSpPr>
        <p:spPr>
          <a:xfrm>
            <a:off x="7205472" y="5422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stale paper/spreadsheet data can be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 — from work order to weld inspection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 is the fast-to-deploy execution-and-quality layer between paper and a heavyweight ERP. Three hooks lead the story: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30168" cy="34747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3630168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301477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84048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your floor live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on which order and stage, against target — right now, on web and phone.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1688" y="2331720"/>
            <a:ext cx="3630168" cy="34747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1688" y="2331720"/>
            <a:ext cx="363016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4727448" y="278892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305" y="301477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7448" y="384048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QA in 3D &amp; AR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27448" y="452628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assemblies against the 3D model; pin defects to the geometry, in AR.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174736" y="2331720"/>
            <a:ext cx="3630168" cy="34747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74736" y="2331720"/>
            <a:ext cx="3630168" cy="10972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9" name="Shape 15"/>
          <p:cNvSpPr/>
          <p:nvPr/>
        </p:nvSpPr>
        <p:spPr>
          <a:xfrm>
            <a:off x="8540496" y="2788920"/>
            <a:ext cx="868680" cy="86868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353" y="3014777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0496" y="3840480"/>
            <a:ext cx="2898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 that tracks itself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540496" y="452628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Per-operator, per-stage time — no paper travelers, no end-of-shift guesswork.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 weeks — three simple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46888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417" y="26947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19072" y="306324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19072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3611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your routings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41148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each product's stages and target times once. Versioned, drag-to-reorder.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178808" y="3694176"/>
            <a:ext cx="237744" cy="274320"/>
          </a:xfrm>
          <a:prstGeom prst="chevron">
            <a:avLst/>
          </a:prstGeom>
          <a:solidFill>
            <a:srgbClr val="C2CEDF"/>
          </a:solidFill>
          <a:ln/>
        </p:spPr>
      </p:sp>
      <p:sp>
        <p:nvSpPr>
          <p:cNvPr id="12" name="Shape 9"/>
          <p:cNvSpPr/>
          <p:nvPr/>
        </p:nvSpPr>
        <p:spPr>
          <a:xfrm>
            <a:off x="4462272" y="21031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73752" y="246888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609" y="2694737"/>
            <a:ext cx="416966" cy="41696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541264" y="306324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541264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873752" y="3611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Operators run &amp; inspect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873752" y="41148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into each stage on the phone or web; view the 3D model and flag defects in AR.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01000" y="3694176"/>
            <a:ext cx="237744" cy="274320"/>
          </a:xfrm>
          <a:prstGeom prst="chevron">
            <a:avLst/>
          </a:prstGeom>
          <a:solidFill>
            <a:srgbClr val="C2CEDF"/>
          </a:solidFill>
          <a:ln/>
        </p:spPr>
      </p:sp>
      <p:sp>
        <p:nvSpPr>
          <p:cNvPr id="20" name="Shape 16"/>
          <p:cNvSpPr/>
          <p:nvPr/>
        </p:nvSpPr>
        <p:spPr>
          <a:xfrm>
            <a:off x="8284464" y="210312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695944" y="2468880"/>
            <a:ext cx="868680" cy="868680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801" y="2694737"/>
            <a:ext cx="416966" cy="41696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363456" y="306324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1A2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363456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695944" y="3611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all, live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695944" y="41148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dashboard, Live Stage Status, QA results and labor reports — no refresh.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· VISIBILITY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whole floor, live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Stage Status: operator, order, stage, elapsed and station — updating with no refresh.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for work orders, active operators, output and labor efficiency.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the same on the web portal and the operator's phone.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74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+ mobile, one live source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481328"/>
            <a:ext cx="690372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98480" y="170078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0881360" y="16276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2103120"/>
            <a:ext cx="1517904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2103120"/>
            <a:ext cx="731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9784" y="221284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248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129784" y="276148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08369" y="2103120"/>
            <a:ext cx="1517904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8369" y="2103120"/>
            <a:ext cx="73152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754673" y="221284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754673" y="276148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Operators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33258" y="2103120"/>
            <a:ext cx="1517904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3258" y="2103120"/>
            <a:ext cx="73152" cy="1097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8379562" y="221284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379562" y="276148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Today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858146" y="2103120"/>
            <a:ext cx="1517904" cy="109728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58146" y="2103120"/>
            <a:ext cx="73152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04450" y="2212848"/>
            <a:ext cx="1335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0004450" y="276148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Efficiency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STAGE STATUS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3703320"/>
          <a:ext cx="6400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55448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ELAPSED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WO-1042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00:18:42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Cell-3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 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WO-1039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00:07:10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WO-1051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brake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00:24:55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PB-2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WO-1047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(3D)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00:03:28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4983480" y="3703320"/>
            <a:ext cx="6400800" cy="384048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30" name="Text 27"/>
          <p:cNvSpPr/>
          <p:nvPr/>
        </p:nvSpPr>
        <p:spPr>
          <a:xfrm>
            <a:off x="507492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355080" y="3703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54380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9098280" y="3703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ELAPSED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0287000" y="37033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STATION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· LABOR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 time that tracks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clock into a specific stage of a specific work order — one tap.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Idle, break and rework are captured, not guessed.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review and correct entries; compare actual vs. target by stage.</a:t>
            </a:r>
            <a:endParaRPr lang="en-US" sz="1450" dirty="0"/>
          </a:p>
          <a:p>
            <a:pPr marL="203200" indent="-203200">
              <a:lnSpc>
                <a:spcPct val="104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labor data finally makes job costing and quoting possible.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2578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CE7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257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standout capability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481328"/>
            <a:ext cx="612648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vs. target — by stage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0" y="1700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</a:t>
            </a:r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Actual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22677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95160" y="2286000"/>
            <a:ext cx="2664562" cy="164592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12" name="Shape 10"/>
          <p:cNvSpPr/>
          <p:nvPr/>
        </p:nvSpPr>
        <p:spPr>
          <a:xfrm>
            <a:off x="6995160" y="2487168"/>
            <a:ext cx="2363724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9809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95160" y="2999232"/>
            <a:ext cx="2148840" cy="164592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5160" y="3200400"/>
            <a:ext cx="2492654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36941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95160" y="3712464"/>
            <a:ext cx="3352190" cy="164592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3913632"/>
            <a:ext cx="3953866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4407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95160" y="4425696"/>
            <a:ext cx="2836469" cy="164592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5160" y="4626864"/>
            <a:ext cx="257860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5120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95160" y="5138928"/>
            <a:ext cx="1461211" cy="164592"/>
          </a:xfrm>
          <a:prstGeom prst="rect">
            <a:avLst/>
          </a:prstGeom>
          <a:solidFill>
            <a:srgbClr val="C7D2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995160" y="5340096"/>
            <a:ext cx="1289304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0" y="5486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 and form stages running over target — visible the moment it happens, not at month-end.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FLAGSHIP CAPABILITY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Quality, in 3D and 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869680" y="603504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0" y="6035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sets us apart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1626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385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C2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Assembly viewer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93852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9385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mode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2697480"/>
            <a:ext cx="2103120" cy="2103120"/>
          </a:xfrm>
          <a:prstGeom prst="ellipse">
            <a:avLst/>
          </a:prstGeom>
          <a:solidFill>
            <a:srgbClr val="123A3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584" y="3118104"/>
            <a:ext cx="1261872" cy="12618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86000" y="2926080"/>
            <a:ext cx="310896" cy="3108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0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66160" y="384048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356616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828800" y="4160520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4224528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2960" y="5029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— weld porosity (sev. high)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22960" y="5321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Out-of-tolerance — gap 2.1mm &gt; 1.5mm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22960" y="5614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signed off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26480" y="18288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613" y="1976933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0" y="1810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 against the real model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858000" y="21214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built assembly to the actual 3D geometry — not a 2D checklist.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126480" y="285292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613" y="3001061"/>
            <a:ext cx="252374" cy="25237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2834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Defects pinned to the geometry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6858000" y="31455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type, severity, measurements and tolerances right on the part.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6126480" y="3877056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613" y="4025189"/>
            <a:ext cx="252374" cy="25237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58000" y="38587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AR-assisted on the floor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6858000" y="41696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view and check assemblies in AR, where the work happens.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6126480" y="490118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613" y="5049317"/>
            <a:ext cx="252374" cy="25237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58000" y="48828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Sign-offs &amp; defect patterns</a:t>
            </a:r>
            <a:endParaRPr lang="en-US" sz="1550" dirty="0"/>
          </a:p>
        </p:txBody>
      </p:sp>
      <p:sp>
        <p:nvSpPr>
          <p:cNvPr id="36" name="Text 28"/>
          <p:cNvSpPr/>
          <p:nvPr/>
        </p:nvSpPr>
        <p:spPr>
          <a:xfrm>
            <a:off x="6858000" y="5193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and recurring-defect views build a real quality record.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6126480" y="5943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scan-to-model comparison is in active development.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· MOBILE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tool in the operator's hand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0" y="16002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reporting feels like paperwork, it won't happen. So the operator app makes it one tap — and works in the dead zones of the floor.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20640" y="2514600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8897" y="265285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97296" y="24963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Assigned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97296" y="27889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operator sees exactly their jobs and stages.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120640" y="3429000"/>
            <a:ext cx="512064" cy="51206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897" y="3567257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97296" y="34107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One-tap clock in / out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797296" y="37033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stage, with idle, break and rework.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120640" y="4343400"/>
            <a:ext cx="512064" cy="512064"/>
          </a:xfrm>
          <a:prstGeom prst="ellipse">
            <a:avLst/>
          </a:prstGeom>
          <a:solidFill>
            <a:srgbClr val="0E1A2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897" y="4481657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97296" y="43251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/ AR reference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797296" y="46177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model and inspect the assembly on-device.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120640" y="5257800"/>
            <a:ext cx="512064" cy="51206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897" y="5396057"/>
            <a:ext cx="235549" cy="23554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97296" y="52395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 queue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797296" y="55321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working with no signal; syncs when back.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1920240" y="1600200"/>
            <a:ext cx="2194560" cy="4297680"/>
          </a:xfrm>
          <a:prstGeom prst="roundRect">
            <a:avLst>
              <a:gd name="adj" fmla="val 11667"/>
            </a:avLst>
          </a:prstGeom>
          <a:solidFill>
            <a:srgbClr val="0E1A2B"/>
          </a:solidFill>
          <a:ln/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029968" y="1764792"/>
            <a:ext cx="1975104" cy="396849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2029968" y="1764792"/>
            <a:ext cx="197510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18"/>
          <p:cNvSpPr/>
          <p:nvPr/>
        </p:nvSpPr>
        <p:spPr>
          <a:xfrm>
            <a:off x="2029968" y="176479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Work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176272" y="2377440"/>
            <a:ext cx="1682496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286000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WO-1042 · Weld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0" y="26883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Cell-3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2176272" y="3090672"/>
            <a:ext cx="1682496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286000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WO-1051 · Press brake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2286000" y="34015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PB-2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2176272" y="3803904"/>
            <a:ext cx="1682496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286000" y="3858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WO-1047 · Inspect (3D)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2286000" y="41148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QA-1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2176272" y="4846320"/>
            <a:ext cx="1682496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</p:sp>
      <p:sp>
        <p:nvSpPr>
          <p:cNvPr id="35" name="Text 29"/>
          <p:cNvSpPr/>
          <p:nvPr/>
        </p:nvSpPr>
        <p:spPr>
          <a:xfrm>
            <a:off x="2176272" y="484632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● Clock In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· WORK ORDERS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Orders move the way the floor moves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06624" cy="3383280"/>
          </a:xfrm>
          <a:prstGeom prst="roundRect">
            <a:avLst>
              <a:gd name="adj" fmla="val 2703"/>
            </a:avLst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706624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19456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2194560"/>
            <a:ext cx="64008" cy="6583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2677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WO-1062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252374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3035808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035808"/>
            <a:ext cx="64008" cy="6583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31089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WO-1065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336499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554480"/>
            <a:ext cx="2706624" cy="3383280"/>
          </a:xfrm>
          <a:prstGeom prst="roundRect">
            <a:avLst>
              <a:gd name="adj" fmla="val 2703"/>
            </a:avLst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554480"/>
            <a:ext cx="270662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5544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19456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66160" y="2194560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730752" y="22677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WO-1051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30752" y="252374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66160" y="3035808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66160" y="3035808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730752" y="31089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WO-1058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30752" y="336499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1554480"/>
            <a:ext cx="2706624" cy="3383280"/>
          </a:xfrm>
          <a:prstGeom prst="roundRect">
            <a:avLst>
              <a:gd name="adj" fmla="val 2703"/>
            </a:avLst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1554480"/>
            <a:ext cx="270662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15544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19088" y="219456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19088" y="2194560"/>
            <a:ext cx="64008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22677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WO-1042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252374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19088" y="3035808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19088" y="3035808"/>
            <a:ext cx="64008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1089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WO-1047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336499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19088" y="3877056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19088" y="3877056"/>
            <a:ext cx="64008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95020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WO-1039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0" y="420624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07424" y="1554480"/>
            <a:ext cx="2706624" cy="3383280"/>
          </a:xfrm>
          <a:prstGeom prst="roundRect">
            <a:avLst>
              <a:gd name="adj" fmla="val 2703"/>
            </a:avLst>
          </a:prstGeom>
          <a:solidFill>
            <a:srgbClr val="EE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07424" y="1554480"/>
            <a:ext cx="2706624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9107424" y="15544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272016" y="2194560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72016" y="2194560"/>
            <a:ext cx="64008" cy="6583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9436608" y="226771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WO-1031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436608" y="252374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272016" y="3035808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272016" y="3035808"/>
            <a:ext cx="64008" cy="6583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0" name="Text 48"/>
          <p:cNvSpPr/>
          <p:nvPr/>
        </p:nvSpPr>
        <p:spPr>
          <a:xfrm>
            <a:off x="9436608" y="31089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WO-1028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436608" y="336499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assy · Line 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138928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0E1A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68680" y="513892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 </a:t>
            </a:r>
            <a:pPr indent="0" marL="0">
              <a:buNone/>
            </a:pPr>
            <a:r>
              <a:rPr lang="en-US" sz="13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pending → in-progress → completed, with priorities, due dates, line assignment, order dependencies, batch operations and a kanban board.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SPADEBLOOM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obvious next step from paper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2057400"/>
                <a:gridCol w="2057400"/>
                <a:gridCol w="2057400"/>
                <a:gridCol w="2057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Real-time labor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3D / AR QA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Fast to deploy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Operator-first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1A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Heavy ERP / MES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1A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Machine monitors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Partial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Partial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1A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DIY platforms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Partial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Partial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E1A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Paper &amp; spreadsheets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6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6A34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D9770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Partial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SpadeBloom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sharpest edge:  </a:t>
            </a:r>
            <a:pPr indent="0" marL="0">
              <a:buNone/>
            </a:pPr>
            <a:r>
              <a:rPr lang="en-US" sz="13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3D/AR quality — heavy ERPs only log inspections as flat data; machine monitors and paper don't do it at all.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metal-fab shops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040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it's for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fabrication &amp; sheet-metal job shops — welding, CNC, press-brake, assembly.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~20–300 employees / 1–6 production lines.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routed jobs where QA against a model matters.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enough that paper breaks down — too lean for a heavyweight ERP.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422392" cy="4480560"/>
          </a:xfrm>
          <a:prstGeom prst="roundRect">
            <a:avLst>
              <a:gd name="adj" fmla="val 1837"/>
            </a:avLst>
          </a:prstGeom>
          <a:solidFill>
            <a:srgbClr val="0E1A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1554480"/>
            <a:ext cx="542239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0409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1938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clients, one API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537960" y="2743200"/>
            <a:ext cx="502920" cy="502920"/>
          </a:xfrm>
          <a:prstGeom prst="ellipse">
            <a:avLst/>
          </a:prstGeom>
          <a:solidFill>
            <a:srgbClr val="1E335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748" y="287898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78040" y="27249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Angular web portal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178040" y="3017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Managers, supervisors, planners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37960" y="3584448"/>
            <a:ext cx="502920" cy="502920"/>
          </a:xfrm>
          <a:prstGeom prst="ellipse">
            <a:avLst/>
          </a:prstGeom>
          <a:solidFill>
            <a:srgbClr val="1E335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748" y="3720236"/>
            <a:ext cx="231343" cy="231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566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 operator app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178040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floor, iOS &amp; Android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537960" y="4425696"/>
            <a:ext cx="502920" cy="502920"/>
          </a:xfrm>
          <a:prstGeom prst="ellipse">
            <a:avLst/>
          </a:prstGeom>
          <a:solidFill>
            <a:srgbClr val="1E3350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748" y="4561484"/>
            <a:ext cx="231343" cy="23134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44074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+ real-time API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178040" y="47000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updates, documented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537960" y="5266944"/>
            <a:ext cx="502920" cy="502920"/>
          </a:xfrm>
          <a:prstGeom prst="ellipse">
            <a:avLst/>
          </a:prstGeom>
          <a:solidFill>
            <a:srgbClr val="1E335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748" y="5402732"/>
            <a:ext cx="231343" cy="23134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78040" y="52486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Cloud-deployed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7178040" y="55412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cloud infra, role-based access + audit log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today, ambitious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lead with what's live and ship the rest in sequence — starting from the labor and quality data SpadeBloom already captures.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30168" cy="370332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3630168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630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· LIVE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29900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floor visibility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labor tracking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3D/AR quality inspection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&amp; kanban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mobile app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2148840"/>
            <a:ext cx="3630168" cy="370332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1688" y="2148840"/>
            <a:ext cx="3630168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2148840"/>
            <a:ext cx="3630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2880360"/>
            <a:ext cx="29900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scan-to-model AR QA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BOM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check before release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downtime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74736" y="2148840"/>
            <a:ext cx="3630168" cy="3703320"/>
          </a:xfrm>
          <a:prstGeom prst="roundRect">
            <a:avLst>
              <a:gd name="adj" fmla="val 22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E1A2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2148840"/>
            <a:ext cx="3630168" cy="548640"/>
          </a:xfrm>
          <a:prstGeom prst="rect">
            <a:avLst/>
          </a:prstGeom>
          <a:solidFill>
            <a:srgbClr val="0E1A2B"/>
          </a:solidFill>
          <a:ln/>
        </p:spPr>
      </p:sp>
      <p:sp>
        <p:nvSpPr>
          <p:cNvPr id="15" name="Text 13"/>
          <p:cNvSpPr/>
          <p:nvPr/>
        </p:nvSpPr>
        <p:spPr>
          <a:xfrm>
            <a:off x="8174736" y="2148840"/>
            <a:ext cx="3630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94776" y="2880360"/>
            <a:ext cx="29900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scheduling &amp; capacity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+ material costing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/ serial traceability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OEE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SpadeBloom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Production Control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373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400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your floor live.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49808" y="27889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FC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production control, 3D/AR quality, and labor that tracks itself — running in weeks, not quarters.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7240" y="393192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11" y="4084991"/>
            <a:ext cx="260787" cy="2607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a demo   </a:t>
            </a:r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demo.spadebloom.com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77240" y="475488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11" y="4907951"/>
            <a:ext cx="260787" cy="2607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4800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Talk to us   </a:t>
            </a:r>
            <a:pPr indent="0" marL="0">
              <a:buNone/>
            </a:pPr>
            <a:r>
              <a:rPr lang="en-US" sz="1800" dirty="0">
                <a:solidFill>
                  <a:srgbClr val="AFC2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akash.mule@eterio.ca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SpadeBloom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768096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Control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SpadeBloom — Pitch Deck</dc:title>
  <dc:subject>PptxGenJS Presentation</dc:subject>
  <dc:creator>SpadeBloom</dc:creator>
  <cp:lastModifiedBy>SpadeBloom</cp:lastModifiedBy>
  <cp:revision>1</cp:revision>
  <dcterms:created xsi:type="dcterms:W3CDTF">2026-06-06T19:51:21Z</dcterms:created>
  <dcterms:modified xsi:type="dcterms:W3CDTF">2026-06-06T19:51:21Z</dcterms:modified>
</cp:coreProperties>
</file>